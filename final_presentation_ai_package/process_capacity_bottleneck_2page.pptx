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440"/>
          </a:solidFill>
          <a:ln>
            <a:solidFill>
              <a:srgbClr val="0F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lgun Gothic"/>
              </a:rPr>
              <a:t>OB Cass Process Capacity Estimate: Public Large-Brewery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118872"/>
            <a:ext cx="2240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IMEN376 Proposal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700" b="1">
                <a:solidFill>
                  <a:srgbClr val="0F2440"/>
                </a:solidFill>
                <a:latin typeface="Malgun Gothic"/>
              </a:rPr>
              <a:t>Key idea: OB process data are private; normalize public large-lager benchmarks to an OB production proxy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3840480" cy="5093208"/>
          </a:xfrm>
          <a:prstGeom prst="roundRect">
            <a:avLst/>
          </a:prstGeom>
          <a:solidFill>
            <a:srgbClr val="ECF3FA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2440"/>
                </a:solidFill>
                <a:latin typeface="Malgun Gothic"/>
              </a:rPr>
              <a:t>1) OB production proxy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1"/>
            <a:ext cx="324612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0">
                <a:solidFill>
                  <a:srgbClr val="232D37"/>
                </a:solidFill>
                <a:latin typeface="Malgun Gothic"/>
              </a:rPr>
              <a:t>2024 Korea beer shipments
1,637,210 kL/year
× OB home-market share 55.3%
≈ 905,377 kL/year
= 9.05 million hL/year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72968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2440"/>
                </a:solidFill>
                <a:latin typeface="Malgun Gothic"/>
              </a:rPr>
              <a:t>2) Scale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32461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0">
                <a:solidFill>
                  <a:srgbClr val="232D37"/>
                </a:solidFill>
                <a:latin typeface="Malgun Gothic"/>
              </a:rPr>
              <a:t>OB proxy / Alrode capacity
= 9.05 / 8.8 ≈ 1.029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2440"/>
                </a:solidFill>
                <a:latin typeface="Malgun Gothic"/>
              </a:rPr>
              <a:t>3) Planning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56048"/>
            <a:ext cx="324612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0">
                <a:solidFill>
                  <a:srgbClr val="232D37"/>
                </a:solidFill>
                <a:latin typeface="Malgun Gothic"/>
              </a:rPr>
              <a:t>176,000 hL/week × 1.029 / 7 × 87%
≈ 22,505 hL/day
= 7.5 standard batches/day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234440"/>
            <a:ext cx="22402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44752"/>
            <a:ext cx="1965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2440"/>
                </a:solidFill>
                <a:latin typeface="Malgun Gothic"/>
              </a:rPr>
              <a:t>SAB Alrode Brewery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057400"/>
            <a:ext cx="1874519" cy="1783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32D37"/>
                </a:solidFill>
                <a:latin typeface="Malgun Gothic"/>
              </a:rPr>
              <a:t>8.8 million hL/year
176,000 hL/week brewing
205,000 hL/week packaging
96 fermentation + 60 maturation vessels
each vessel 3,000 hL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234440"/>
            <a:ext cx="22402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44752"/>
            <a:ext cx="1965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2440"/>
                </a:solidFill>
                <a:latin typeface="Malgun Gothic"/>
              </a:rPr>
              <a:t>AB InBev Leuven / GEA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057400"/>
            <a:ext cx="1874519" cy="1783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32D37"/>
                </a:solidFill>
                <a:latin typeface="Malgun Gothic"/>
              </a:rPr>
              <a:t>New cold block: 36 tanks
116 total tanks after expansion
Tank sizes: 2,700–4,700 hL
Centrifuge: 600–700 hL/hour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1234440"/>
            <a:ext cx="22402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444752"/>
            <a:ext cx="1965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2440"/>
                </a:solidFill>
                <a:latin typeface="Malgun Gothic"/>
              </a:rPr>
              <a:t>Steinecker / Krones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59" y="2057400"/>
            <a:ext cx="1874519" cy="1783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32D37"/>
                </a:solidFill>
                <a:latin typeface="Malgun Gothic"/>
              </a:rPr>
              <a:t>Steinecker mash filter:
14 brews/day output
Krones bottle filler:
up to 78,000 containers/hour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4526280"/>
            <a:ext cx="7223760" cy="1737360"/>
          </a:xfrm>
          <a:prstGeom prst="roundRect">
            <a:avLst/>
          </a:prstGeom>
          <a:solidFill>
            <a:srgbClr val="FFF8EB"/>
          </a:solidFill>
          <a:ln>
            <a:solidFill>
              <a:srgbClr val="F5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709160"/>
            <a:ext cx="6812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E67E22"/>
                </a:solidFill>
                <a:latin typeface="Malgun Gothic"/>
              </a:rPr>
              <a:t>Normalization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120640"/>
            <a:ext cx="681228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0">
                <a:solidFill>
                  <a:srgbClr val="232D37"/>
                </a:solidFill>
                <a:latin typeface="Malgun Gothic"/>
              </a:rPr>
              <a:t>Do not copy the plant-level 87% operating rate into every process.
Use 87% only for planning load; estimate process capacities from equipment rated speeds or tank residence times.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3385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D6B7A"/>
                </a:solidFill>
                <a:latin typeface="Malgun Gothic"/>
              </a:rPr>
              <a:t>Sources: SASSDA Alrode Brewery; GEA AB InBev Leuven; Steinecker mash filter; Krones filling 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440"/>
          </a:solidFill>
          <a:ln>
            <a:solidFill>
              <a:srgbClr val="0F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lgun Gothic"/>
              </a:rPr>
              <a:t>Process Utilization: Bottleneck is the Fermentation-Centered Cold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18872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algun Gothic"/>
              </a:rPr>
              <a:t>2-page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700" b="1">
                <a:solidFill>
                  <a:srgbClr val="0F2440"/>
                </a:solidFill>
                <a:latin typeface="Malgun Gothic"/>
              </a:rPr>
              <a:t>Planning load = 7.5 standard batches/day. Capacity is estimated from process-specific public benchmarks.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62356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057400" cy="384048"/>
          </a:xfrm>
          <a:prstGeom prst="rect">
            <a:avLst/>
          </a:prstGeom>
          <a:solidFill>
            <a:srgbClr val="0F2440"/>
          </a:solidFill>
          <a:ln>
            <a:solidFill>
              <a:srgbClr val="0F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07592"/>
            <a:ext cx="2002536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234440"/>
            <a:ext cx="1234440" cy="384048"/>
          </a:xfrm>
          <a:prstGeom prst="rect">
            <a:avLst/>
          </a:prstGeom>
          <a:solidFill>
            <a:srgbClr val="0F2440"/>
          </a:solidFill>
          <a:ln>
            <a:solidFill>
              <a:srgbClr val="0F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1" y="1307592"/>
            <a:ext cx="1179576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Capacity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234440"/>
            <a:ext cx="822960" cy="384048"/>
          </a:xfrm>
          <a:prstGeom prst="rect">
            <a:avLst/>
          </a:prstGeom>
          <a:solidFill>
            <a:srgbClr val="0F2440"/>
          </a:solidFill>
          <a:ln>
            <a:solidFill>
              <a:srgbClr val="0F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2" y="1307592"/>
            <a:ext cx="768096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Util.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234440"/>
            <a:ext cx="1371600" cy="384048"/>
          </a:xfrm>
          <a:prstGeom prst="rect">
            <a:avLst/>
          </a:prstGeom>
          <a:solidFill>
            <a:srgbClr val="0F2440"/>
          </a:solidFill>
          <a:ln>
            <a:solidFill>
              <a:srgbClr val="0F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307592"/>
            <a:ext cx="1316736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Interpretation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18488"/>
            <a:ext cx="205740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728216"/>
            <a:ext cx="19842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232D37"/>
                </a:solidFill>
                <a:latin typeface="Malgun Gothic"/>
              </a:rPr>
              <a:t>Milling/Mashing/Lautering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1618488"/>
            <a:ext cx="123444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728216"/>
            <a:ext cx="116128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14.0 b/d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1618488"/>
            <a:ext cx="82296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31336" y="1728216"/>
            <a:ext cx="74980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54%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618488"/>
            <a:ext cx="137160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4296" y="1728216"/>
            <a:ext cx="12984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Slack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157984"/>
            <a:ext cx="205740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2267712"/>
            <a:ext cx="19842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232D37"/>
                </a:solidFill>
                <a:latin typeface="Malgun Gothic"/>
              </a:rPr>
              <a:t>Boiling/Cooling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157984"/>
            <a:ext cx="123444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96896" y="2267712"/>
            <a:ext cx="116128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12.0 b/d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2157984"/>
            <a:ext cx="82296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2267712"/>
            <a:ext cx="74980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63%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2157984"/>
            <a:ext cx="137160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4296" y="2267712"/>
            <a:ext cx="12984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Not constraining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697480"/>
            <a:ext cx="2057400" cy="539496"/>
          </a:xfrm>
          <a:prstGeom prst="rect">
            <a:avLst/>
          </a:prstGeom>
          <a:solidFill>
            <a:srgbClr val="FFF2EB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807208"/>
            <a:ext cx="19842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>
                <a:solidFill>
                  <a:srgbClr val="C0392B"/>
                </a:solidFill>
                <a:latin typeface="Malgun Gothic"/>
              </a:rPr>
              <a:t>Fermentation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2697480"/>
            <a:ext cx="1234440" cy="539496"/>
          </a:xfrm>
          <a:prstGeom prst="rect">
            <a:avLst/>
          </a:prstGeom>
          <a:solidFill>
            <a:srgbClr val="FFF2EB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96896" y="2807208"/>
            <a:ext cx="116128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32D37"/>
                </a:solidFill>
                <a:latin typeface="Malgun Gothic"/>
              </a:rPr>
              <a:t>~8.0 b/d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60" y="2697480"/>
            <a:ext cx="822960" cy="539496"/>
          </a:xfrm>
          <a:prstGeom prst="rect">
            <a:avLst/>
          </a:prstGeom>
          <a:solidFill>
            <a:srgbClr val="FFF2EB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31336" y="2807208"/>
            <a:ext cx="74980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  <a:latin typeface="Malgun Gothic"/>
              </a:rPr>
              <a:t>94%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2697480"/>
            <a:ext cx="1371600" cy="539496"/>
          </a:xfrm>
          <a:prstGeom prst="rect">
            <a:avLst/>
          </a:prstGeom>
          <a:solidFill>
            <a:srgbClr val="FFF2EB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4296" y="2807208"/>
            <a:ext cx="12984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  <a:latin typeface="Malgun Gothic"/>
              </a:rPr>
              <a:t>Primary bottleneck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236976"/>
            <a:ext cx="2057400" cy="539496"/>
          </a:xfrm>
          <a:prstGeom prst="rect">
            <a:avLst/>
          </a:prstGeom>
          <a:solidFill>
            <a:srgbClr val="FFF8EB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3346704"/>
            <a:ext cx="19842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>
                <a:solidFill>
                  <a:srgbClr val="E67E22"/>
                </a:solidFill>
                <a:latin typeface="Malgun Gothic"/>
              </a:rPr>
              <a:t>Maturation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236976"/>
            <a:ext cx="1234440" cy="539496"/>
          </a:xfrm>
          <a:prstGeom prst="rect">
            <a:avLst/>
          </a:prstGeom>
          <a:solidFill>
            <a:srgbClr val="FFF8EB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96896" y="3346704"/>
            <a:ext cx="116128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32D37"/>
                </a:solidFill>
                <a:latin typeface="Malgun Gothic"/>
              </a:rPr>
              <a:t>~8.6 b/d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94760" y="3236976"/>
            <a:ext cx="822960" cy="539496"/>
          </a:xfrm>
          <a:prstGeom prst="rect">
            <a:avLst/>
          </a:prstGeom>
          <a:solidFill>
            <a:srgbClr val="FFF8EB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31336" y="3346704"/>
            <a:ext cx="74980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  <a:latin typeface="Malgun Gothic"/>
              </a:rPr>
              <a:t>87%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7720" y="3236976"/>
            <a:ext cx="1371600" cy="539496"/>
          </a:xfrm>
          <a:prstGeom prst="rect">
            <a:avLst/>
          </a:prstGeom>
          <a:solidFill>
            <a:srgbClr val="FFF8EB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54296" y="3346704"/>
            <a:ext cx="12984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  <a:latin typeface="Malgun Gothic"/>
              </a:rPr>
              <a:t>Secondary constraint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776472"/>
            <a:ext cx="205740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3886200"/>
            <a:ext cx="19842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232D37"/>
                </a:solidFill>
                <a:latin typeface="Malgun Gothic"/>
              </a:rPr>
              <a:t>Final filtration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776472"/>
            <a:ext cx="123444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96896" y="3886200"/>
            <a:ext cx="116128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9.6–11.2 b/d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94760" y="3776472"/>
            <a:ext cx="82296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31336" y="3886200"/>
            <a:ext cx="74980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67–78%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7720" y="3776472"/>
            <a:ext cx="137160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54296" y="3886200"/>
            <a:ext cx="12984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Some slack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315968"/>
            <a:ext cx="205740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4425696"/>
            <a:ext cx="19842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232D37"/>
                </a:solidFill>
                <a:latin typeface="Malgun Gothic"/>
              </a:rPr>
              <a:t>Bright beer holding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0" y="4315968"/>
            <a:ext cx="123444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96896" y="4425696"/>
            <a:ext cx="116128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~13.0 b/d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94760" y="4315968"/>
            <a:ext cx="82296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31336" y="4425696"/>
            <a:ext cx="74980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58%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4315968"/>
            <a:ext cx="137160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54296" y="4425696"/>
            <a:ext cx="12984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Buffer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855464"/>
            <a:ext cx="205740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9496" y="4965192"/>
            <a:ext cx="19842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>
                <a:solidFill>
                  <a:srgbClr val="232D37"/>
                </a:solidFill>
                <a:latin typeface="Malgun Gothic"/>
              </a:rPr>
              <a:t>Packaging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0" y="4855464"/>
            <a:ext cx="123444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96896" y="4965192"/>
            <a:ext cx="116128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~10.0 b/d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94760" y="4855464"/>
            <a:ext cx="82296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31336" y="4965192"/>
            <a:ext cx="74980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75%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17720" y="4855464"/>
            <a:ext cx="1371600" cy="539496"/>
          </a:xfrm>
          <a:prstGeom prst="rect">
            <a:avLst/>
          </a:prstGeom>
          <a:solidFill>
            <a:srgbClr val="F8FBFD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4296" y="4965192"/>
            <a:ext cx="12984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232D37"/>
                </a:solidFill>
                <a:latin typeface="Malgun Gothic"/>
              </a:rPr>
              <a:t>Slack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46520" y="123444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29400" y="1417320"/>
            <a:ext cx="4800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2440"/>
                </a:solidFill>
                <a:latin typeface="Malgun Gothic"/>
              </a:rPr>
              <a:t>Utilization comparison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29400" y="1874519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232D37"/>
                </a:solidFill>
                <a:latin typeface="Malgun Gothic"/>
              </a:rPr>
              <a:t>Milling/Mashing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09560" y="1911095"/>
            <a:ext cx="3474720" cy="164592"/>
          </a:xfrm>
          <a:prstGeom prst="rect">
            <a:avLst/>
          </a:prstGeom>
          <a:solidFill>
            <a:srgbClr val="E8ECF1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09560" y="1911095"/>
            <a:ext cx="1876348" cy="16459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29400" y="2377439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232D37"/>
                </a:solidFill>
                <a:latin typeface="Malgun Gothic"/>
              </a:rPr>
              <a:t>Boiling/Cooling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09560" y="2414015"/>
            <a:ext cx="3474720" cy="164592"/>
          </a:xfrm>
          <a:prstGeom prst="rect">
            <a:avLst/>
          </a:prstGeom>
          <a:solidFill>
            <a:srgbClr val="E8ECF1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909560" y="2414015"/>
            <a:ext cx="2189073" cy="16459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29400" y="28803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232D37"/>
                </a:solidFill>
                <a:latin typeface="Malgun Gothic"/>
              </a:rPr>
              <a:t>Final filtration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09560" y="2916936"/>
            <a:ext cx="3474720" cy="164592"/>
          </a:xfrm>
          <a:prstGeom prst="rect">
            <a:avLst/>
          </a:prstGeom>
          <a:solidFill>
            <a:srgbClr val="E8ECF1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909560" y="2916936"/>
            <a:ext cx="2606040" cy="164592"/>
          </a:xfrm>
          <a:prstGeom prst="rect">
            <a:avLst/>
          </a:prstGeom>
          <a:solidFill>
            <a:srgbClr val="265CA0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629400" y="338328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232D37"/>
                </a:solidFill>
                <a:latin typeface="Malgun Gothic"/>
              </a:rPr>
              <a:t>Packaging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09560" y="3419856"/>
            <a:ext cx="3474720" cy="164592"/>
          </a:xfrm>
          <a:prstGeom prst="rect">
            <a:avLst/>
          </a:prstGeom>
          <a:solidFill>
            <a:srgbClr val="E8ECF1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09560" y="3419856"/>
            <a:ext cx="2606040" cy="164592"/>
          </a:xfrm>
          <a:prstGeom prst="rect">
            <a:avLst/>
          </a:prstGeom>
          <a:solidFill>
            <a:srgbClr val="265CA0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29400" y="388620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232D37"/>
                </a:solidFill>
                <a:latin typeface="Malgun Gothic"/>
              </a:rPr>
              <a:t>Maturation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09560" y="3922776"/>
            <a:ext cx="3474720" cy="164592"/>
          </a:xfrm>
          <a:prstGeom prst="rect">
            <a:avLst/>
          </a:prstGeom>
          <a:solidFill>
            <a:srgbClr val="E8ECF1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09560" y="3922776"/>
            <a:ext cx="3023006" cy="16459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29400" y="438912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232D37"/>
                </a:solidFill>
                <a:latin typeface="Malgun Gothic"/>
              </a:rPr>
              <a:t>Fermentation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09560" y="4425696"/>
            <a:ext cx="3474720" cy="164592"/>
          </a:xfrm>
          <a:prstGeom prst="rect">
            <a:avLst/>
          </a:prstGeom>
          <a:solidFill>
            <a:srgbClr val="E8ECF1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09560" y="4425696"/>
            <a:ext cx="3266236" cy="164592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863072" y="1783080"/>
            <a:ext cx="18288" cy="32461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634472" y="5047488"/>
            <a:ext cx="64008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00" b="0">
                <a:solidFill>
                  <a:srgbClr val="5D6B7A"/>
                </a:solidFill>
                <a:latin typeface="Malgun Gothic"/>
              </a:rPr>
              <a:t>85%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991088" y="1883663"/>
            <a:ext cx="438912" cy="23774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018520" y="1911095"/>
            <a:ext cx="384048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32D37"/>
                </a:solidFill>
                <a:latin typeface="Malgun Gothic"/>
              </a:rPr>
              <a:t>54%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991088" y="2386583"/>
            <a:ext cx="438912" cy="23774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018520" y="2414015"/>
            <a:ext cx="384048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32D37"/>
                </a:solidFill>
                <a:latin typeface="Malgun Gothic"/>
              </a:rPr>
              <a:t>63%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991088" y="2889503"/>
            <a:ext cx="438912" cy="23774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018520" y="2916936"/>
            <a:ext cx="384048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32D37"/>
                </a:solidFill>
                <a:latin typeface="Malgun Gothic"/>
              </a:rPr>
              <a:t>75%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991088" y="3392424"/>
            <a:ext cx="438912" cy="23774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018520" y="3419856"/>
            <a:ext cx="384048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32D37"/>
                </a:solidFill>
                <a:latin typeface="Malgun Gothic"/>
              </a:rPr>
              <a:t>75%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91088" y="3895344"/>
            <a:ext cx="438912" cy="23774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018520" y="3922776"/>
            <a:ext cx="384048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32D37"/>
                </a:solidFill>
                <a:latin typeface="Malgun Gothic"/>
              </a:rPr>
              <a:t>87%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991088" y="4398264"/>
            <a:ext cx="438912" cy="237744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018520" y="4425696"/>
            <a:ext cx="384048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00" b="1">
                <a:solidFill>
                  <a:srgbClr val="232D37"/>
                </a:solidFill>
                <a:latin typeface="Malgun Gothic"/>
              </a:rPr>
              <a:t>94%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02920" y="5760720"/>
            <a:ext cx="11201400" cy="685800"/>
          </a:xfrm>
          <a:prstGeom prst="roundRect">
            <a:avLst/>
          </a:prstGeom>
          <a:solidFill>
            <a:srgbClr val="ECF3FA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1520" y="5879592"/>
            <a:ext cx="107442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2440"/>
                </a:solidFill>
                <a:latin typeface="Malgun Gothic"/>
              </a:rPr>
              <a:t>Conclusion: upstream brewing and packaging have line-speed slack, but fermentation ties up tanks for 13–14 days and reaches ~94% utilization. The dominant bottleneck is the fermentation-centered cold block.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