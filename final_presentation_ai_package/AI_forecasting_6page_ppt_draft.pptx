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340"/>
          </a:solidFill>
          <a:ln>
            <a:solidFill>
              <a:srgbClr val="0F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AI Demand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65392"/>
            <a:ext cx="11109960" cy="10972"/>
          </a:xfrm>
          <a:prstGeom prst="rect">
            <a:avLst/>
          </a:prstGeom>
          <a:solidFill>
            <a:srgbClr val="D7DDE6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601968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4"/>
                </a:solidFill>
                <a:latin typeface="Aptos"/>
              </a:defRPr>
            </a:pPr>
            <a:r>
              <a:t>OB Cass Demand Forecasting | POM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60196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C6774"/>
                </a:solidFill>
              </a:defRPr>
            </a:pPr>
            <a:r>
              <a:t>1/6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84048"/>
            <a:ext cx="12191695" cy="1828800"/>
          </a:xfrm>
          <a:prstGeom prst="rect">
            <a:avLst/>
          </a:prstGeom>
          <a:solidFill>
            <a:srgbClr val="0F2340"/>
          </a:solidFill>
          <a:ln>
            <a:solidFill>
              <a:srgbClr val="0F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76656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AI 기반 Cass 수요예측 모델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344168"/>
            <a:ext cx="85039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EEBFF"/>
                </a:solidFill>
                <a:latin typeface="Malgun Gothic"/>
              </a:defRPr>
            </a:pPr>
            <a:r>
              <a:t>국내 맥주 apparent consumption 예측 → 발효탱크 사전 배분 의사결정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868680"/>
            <a:ext cx="1234440" cy="310896"/>
          </a:xfrm>
          <a:prstGeom prst="roundRect">
            <a:avLst/>
          </a:prstGeom>
          <a:solidFill>
            <a:srgbClr val="F2AC26"/>
          </a:solidFill>
          <a:ln>
            <a:solidFill>
              <a:srgbClr val="F2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Chronos-2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835640" y="868680"/>
            <a:ext cx="685800" cy="310896"/>
          </a:xfrm>
          <a:prstGeom prst="roundRect">
            <a:avLst/>
          </a:prstGeom>
          <a:solidFill>
            <a:srgbClr val="23915F"/>
          </a:solidFill>
          <a:ln>
            <a:solidFill>
              <a:srgbClr val="23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MVP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78608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578608"/>
            <a:ext cx="73152" cy="1828800"/>
          </a:xfrm>
          <a:prstGeom prst="rect">
            <a:avLst/>
          </a:prstGeom>
          <a:solidFill>
            <a:srgbClr val="D24141"/>
          </a:solidFill>
          <a:ln>
            <a:solidFill>
              <a:srgbClr val="D2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715768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Problem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발효 리드타임 때문에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수요 발생 후 즉시 대응 불가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→ 사전 예측이 생산계획의 핵심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2578608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2578608"/>
            <a:ext cx="73152" cy="182880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715768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Target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국내 출고량 + HS2203 수입 − 수출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= 국내 소비 가능 물량 proxy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논알콜/무알콜 세그먼트 포함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2578608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2578608"/>
            <a:ext cx="73152" cy="1828800"/>
          </a:xfrm>
          <a:prstGeom prst="rect">
            <a:avLst/>
          </a:prstGeom>
          <a:solidFill>
            <a:srgbClr val="23915F"/>
          </a:solidFill>
          <a:ln>
            <a:solidFill>
              <a:srgbClr val="23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2715768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Result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Chronos-2가 최종 1위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MASE 0.387 / WAPE 0.0168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Seasonal Naive 대비 약 13% 개선</a:t>
            </a:r>
          </a:p>
        </p:txBody>
      </p:sp>
      <p:pic>
        <p:nvPicPr>
          <p:cNvPr id="21" name="Picture 20" descr="08_final_model_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4553712"/>
            <a:ext cx="9509760" cy="2162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340"/>
          </a:solidFill>
          <a:ln>
            <a:solidFill>
              <a:srgbClr val="0F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AI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340"/>
                </a:solidFill>
                <a:latin typeface="Malgun Gothic"/>
              </a:defRPr>
            </a:pPr>
            <a:r>
              <a:t>1. 수요 Target: 국내 소비 가능 물량으로 재정의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Malgun Gothic"/>
              </a:defRPr>
            </a:pPr>
            <a:r>
              <a:t>단순 국내 출고량이 아니라 수입 유입과 수출 차감을 반영한 apparent consumption proxy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09960" cy="10972"/>
          </a:xfrm>
          <a:prstGeom prst="rect">
            <a:avLst/>
          </a:prstGeom>
          <a:solidFill>
            <a:srgbClr val="D7DDE6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601968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4"/>
                </a:solidFill>
                <a:latin typeface="Aptos"/>
              </a:defRPr>
            </a:pPr>
            <a:r>
              <a:t>OB Cass Demand Forecasting | POM Term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0196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C6774"/>
                </a:solidFill>
              </a:defRPr>
            </a:pPr>
            <a:r>
              <a:t>2/6</a:t>
            </a:r>
          </a:p>
        </p:txBody>
      </p:sp>
      <p:pic>
        <p:nvPicPr>
          <p:cNvPr id="9" name="Picture 8" descr="01_target_construction_apparent_consum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720840" cy="27725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43800" y="1417320"/>
            <a:ext cx="40233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1417320"/>
            <a:ext cx="73152" cy="118872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1554480"/>
            <a:ext cx="3703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Target Formula</a:t>
            </a:r>
          </a:p>
          <a:p>
            <a:pPr>
              <a:lnSpc>
                <a:spcPct val="108000"/>
              </a:lnSpc>
              <a:defRPr sz="1100">
                <a:solidFill>
                  <a:srgbClr val="1E293B"/>
                </a:solidFill>
                <a:latin typeface="Malgun Gothic"/>
              </a:defRPr>
            </a:pPr>
            <a:r>
              <a:t>Demandₜ = Domestic Shipmentₜ</a:t>
            </a:r>
          </a:p>
          <a:p>
            <a:pPr>
              <a:lnSpc>
                <a:spcPct val="108000"/>
              </a:lnSpc>
              <a:defRPr sz="1100">
                <a:solidFill>
                  <a:srgbClr val="1E293B"/>
                </a:solidFill>
                <a:latin typeface="Malgun Gothic"/>
              </a:defRPr>
            </a:pPr>
            <a:r>
              <a:t>+ Import(HS2203)ₜ − Export(HS2203)ₜ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788920"/>
            <a:ext cx="40233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3800" y="2788920"/>
            <a:ext cx="73152" cy="1280160"/>
          </a:xfrm>
          <a:prstGeom prst="rect">
            <a:avLst/>
          </a:prstGeom>
          <a:solidFill>
            <a:srgbClr val="F2AC26"/>
          </a:solidFill>
          <a:ln>
            <a:solidFill>
              <a:srgbClr val="F2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4968" y="2926079"/>
            <a:ext cx="3703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Why this matters</a:t>
            </a:r>
          </a:p>
          <a:p>
            <a:pPr>
              <a:lnSpc>
                <a:spcPct val="108000"/>
              </a:lnSpc>
              <a:defRPr sz="1050">
                <a:solidFill>
                  <a:srgbClr val="1E293B"/>
                </a:solidFill>
                <a:latin typeface="Malgun Gothic"/>
              </a:defRPr>
            </a:pPr>
            <a:r>
              <a:t>국내 생산/출고 중심 지표를</a:t>
            </a:r>
          </a:p>
          <a:p>
            <a:pPr>
              <a:lnSpc>
                <a:spcPct val="108000"/>
              </a:lnSpc>
              <a:defRPr sz="1050">
                <a:solidFill>
                  <a:srgbClr val="1E293B"/>
                </a:solidFill>
                <a:latin typeface="Malgun Gothic"/>
              </a:defRPr>
            </a:pPr>
            <a:r>
              <a:t>국내에서 실제 소비 가능한 물량에</a:t>
            </a:r>
          </a:p>
          <a:p>
            <a:pPr>
              <a:lnSpc>
                <a:spcPct val="108000"/>
              </a:lnSpc>
              <a:defRPr sz="1050">
                <a:solidFill>
                  <a:srgbClr val="1E293B"/>
                </a:solidFill>
                <a:latin typeface="Malgun Gothic"/>
              </a:defRPr>
            </a:pPr>
            <a:r>
              <a:t>더 가까운 target으로 개선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251960"/>
            <a:ext cx="402336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43800" y="4251960"/>
            <a:ext cx="73152" cy="1353312"/>
          </a:xfrm>
          <a:prstGeom prst="rect">
            <a:avLst/>
          </a:prstGeom>
          <a:solidFill>
            <a:srgbClr val="D24141"/>
          </a:solidFill>
          <a:ln>
            <a:solidFill>
              <a:srgbClr val="D2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44968" y="4389120"/>
            <a:ext cx="3703320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Scope note</a:t>
            </a:r>
          </a:p>
          <a:p>
            <a:pPr>
              <a:lnSpc>
                <a:spcPct val="108000"/>
              </a:lnSpc>
              <a:defRPr sz="1050">
                <a:solidFill>
                  <a:srgbClr val="1E293B"/>
                </a:solidFill>
                <a:latin typeface="Malgun Gothic"/>
              </a:defRPr>
            </a:pPr>
            <a:r>
              <a:t>실제 OB 내부 SKU 수요는 아님</a:t>
            </a:r>
          </a:p>
          <a:p>
            <a:pPr>
              <a:lnSpc>
                <a:spcPct val="108000"/>
              </a:lnSpc>
              <a:defRPr sz="1050">
                <a:solidFill>
                  <a:srgbClr val="1E293B"/>
                </a:solidFill>
                <a:latin typeface="Malgun Gothic"/>
              </a:defRPr>
            </a:pPr>
            <a:r>
              <a:t>공개자료 기반 diagnostic proxy</a:t>
            </a:r>
          </a:p>
          <a:p>
            <a:pPr>
              <a:lnSpc>
                <a:spcPct val="108000"/>
              </a:lnSpc>
              <a:defRPr sz="1050">
                <a:solidFill>
                  <a:srgbClr val="1E293B"/>
                </a:solidFill>
                <a:latin typeface="Malgun Gothic"/>
              </a:defRPr>
            </a:pPr>
            <a:r>
              <a:t>→ Phase 0 MVP로 해석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806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1100">
                <a:solidFill>
                  <a:srgbClr val="0F2340"/>
                </a:solidFill>
                <a:latin typeface="Malgun Gothic"/>
              </a:defRPr>
            </a:pPr>
            <a:r>
              <a:t>Non-alcohol / zero-alcohol segment는 Cass 0.0 성장 SKU 시나리오 보조 layer로 별도 반영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340"/>
          </a:solidFill>
          <a:ln>
            <a:solidFill>
              <a:srgbClr val="0F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AI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340"/>
                </a:solidFill>
                <a:latin typeface="Malgun Gothic"/>
              </a:defRPr>
            </a:pPr>
            <a:r>
              <a:t>2. Feature 설계: 수요를 움직이는 외생변수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Malgun Gothic"/>
              </a:defRPr>
            </a:pPr>
            <a:r>
              <a:t>날씨·스포츠·달력·가격·뉴스·검색량을 구분해 leakage 없이 사용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09960" cy="10972"/>
          </a:xfrm>
          <a:prstGeom prst="rect">
            <a:avLst/>
          </a:prstGeom>
          <a:solidFill>
            <a:srgbClr val="D7DDE6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601968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4"/>
                </a:solidFill>
                <a:latin typeface="Aptos"/>
              </a:defRPr>
            </a:pPr>
            <a:r>
              <a:t>OB Cass Demand Forecasting | POM Term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0196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C6774"/>
                </a:solidFill>
              </a:defRPr>
            </a:pPr>
            <a:r>
              <a:t>3/6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572768"/>
            <a:ext cx="73152" cy="114300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709928"/>
            <a:ext cx="187451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Weather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월평균기온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폭염일수 / 열대야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강수량·비 오는 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1572768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71800" y="1572768"/>
            <a:ext cx="73152" cy="1143000"/>
          </a:xfrm>
          <a:prstGeom prst="rect">
            <a:avLst/>
          </a:prstGeom>
          <a:solidFill>
            <a:srgbClr val="F2AC26"/>
          </a:solidFill>
          <a:ln>
            <a:solidFill>
              <a:srgbClr val="F2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72968" y="1709928"/>
            <a:ext cx="187451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Sports &amp; Events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KBO 경기수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월드컵/대형 이벤트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지역·맥주 축제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572768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49240" y="1572768"/>
            <a:ext cx="73152" cy="1143000"/>
          </a:xfrm>
          <a:prstGeom prst="rect">
            <a:avLst/>
          </a:prstGeom>
          <a:solidFill>
            <a:srgbClr val="23915F"/>
          </a:solidFill>
          <a:ln>
            <a:solidFill>
              <a:srgbClr val="23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7" y="1709928"/>
            <a:ext cx="187451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Calendar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공휴일 수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주말·연휴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평일 공휴일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572768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1572768"/>
            <a:ext cx="73152" cy="1143000"/>
          </a:xfrm>
          <a:prstGeom prst="rect">
            <a:avLst/>
          </a:prstGeom>
          <a:solidFill>
            <a:srgbClr val="D24141"/>
          </a:solidFill>
          <a:ln>
            <a:solidFill>
              <a:srgbClr val="D2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1709928"/>
            <a:ext cx="187451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Price / Economy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수입맥주 단가 YoY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CPI 상승률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OB 가격인상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063240"/>
            <a:ext cx="288036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063240"/>
            <a:ext cx="73152" cy="1353312"/>
          </a:xfrm>
          <a:prstGeom prst="rect">
            <a:avLst/>
          </a:prstGeom>
          <a:solidFill>
            <a:srgbClr val="0F2340"/>
          </a:solidFill>
          <a:ln>
            <a:solidFill>
              <a:srgbClr val="0F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200400"/>
            <a:ext cx="2560320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Google Trends rule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Target 생성에는 미사용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예측에는 전월(t-1) 검색량만 테스트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→ demand-sensing 보조 신호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03320" y="3063240"/>
            <a:ext cx="288036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03320" y="3063240"/>
            <a:ext cx="73152" cy="135331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4487" y="3200400"/>
            <a:ext cx="2560320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News / Sentiment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맥주·Cass·비알콜 뉴스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날씨-수요 기사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축제/행사 뉴스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12280" y="3063240"/>
            <a:ext cx="3749039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12280" y="3063240"/>
            <a:ext cx="73152" cy="1353312"/>
          </a:xfrm>
          <a:prstGeom prst="rect">
            <a:avLst/>
          </a:prstGeom>
          <a:solidFill>
            <a:srgbClr val="F2AC26"/>
          </a:solidFill>
          <a:ln>
            <a:solidFill>
              <a:srgbClr val="F2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13448" y="3200400"/>
            <a:ext cx="3428999" cy="1170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Model candidates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Chronos-2, Seasonal Naive, Ridge/Lasso/ElasticNet, RandomForest, ExtraTrees, GradientBoosting, HistGB, KNN, SVR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892040"/>
            <a:ext cx="98755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892040"/>
            <a:ext cx="73152" cy="86868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5029200"/>
            <a:ext cx="9555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F2340"/>
                </a:solidFill>
                <a:latin typeface="Malgun Gothic"/>
              </a:defRPr>
            </a:pPr>
            <a:r>
              <a:t>Validation rule</a:t>
            </a:r>
          </a:p>
          <a:p>
            <a:pPr>
              <a:lnSpc>
                <a:spcPct val="108000"/>
              </a:lnSpc>
              <a:defRPr sz="1019">
                <a:solidFill>
                  <a:srgbClr val="1E293B"/>
                </a:solidFill>
                <a:latin typeface="Malgun Gothic"/>
              </a:defRPr>
            </a:pPr>
            <a:r>
              <a:t>Rolling backtest: 2024–2025 각 월 예측 시 해당 월 이전 데이터만 학습  |  평가지표: MASE / WAPE / RMSE — 낮을수록 좋음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340"/>
          </a:solidFill>
          <a:ln>
            <a:solidFill>
              <a:srgbClr val="0F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AI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340"/>
                </a:solidFill>
                <a:latin typeface="Malgun Gothic"/>
              </a:defRPr>
            </a:pPr>
            <a:r>
              <a:t>3. 모델 비교 결과: Chronos-2가 최종 1위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Malgun Gothic"/>
              </a:defRPr>
            </a:pPr>
            <a:r>
              <a:t>국내 맥주 apparent consumption target 기준으로 다양한 AI/ML 모델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09960" cy="10972"/>
          </a:xfrm>
          <a:prstGeom prst="rect">
            <a:avLst/>
          </a:prstGeom>
          <a:solidFill>
            <a:srgbClr val="D7DDE6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601968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4"/>
                </a:solidFill>
                <a:latin typeface="Aptos"/>
              </a:defRPr>
            </a:pPr>
            <a:r>
              <a:t>OB Cass Demand Forecasting | POM Term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0196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C6774"/>
                </a:solidFill>
              </a:defRPr>
            </a:pPr>
            <a:r>
              <a:t>4/6</a:t>
            </a:r>
          </a:p>
        </p:txBody>
      </p:sp>
      <p:pic>
        <p:nvPicPr>
          <p:cNvPr id="9" name="Picture 8" descr="03_model_comparison_m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10512"/>
            <a:ext cx="5486400" cy="2732883"/>
          </a:xfrm>
          <a:prstGeom prst="rect">
            <a:avLst/>
          </a:prstGeom>
        </p:spPr>
      </p:pic>
      <p:pic>
        <p:nvPicPr>
          <p:cNvPr id="10" name="Picture 9" descr="04_model_comparison_w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810512"/>
            <a:ext cx="5303520" cy="264068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5742432"/>
            <a:ext cx="3474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742432"/>
            <a:ext cx="73152" cy="640080"/>
          </a:xfrm>
          <a:prstGeom prst="rect">
            <a:avLst/>
          </a:prstGeom>
          <a:solidFill>
            <a:srgbClr val="23915F"/>
          </a:solidFill>
          <a:ln>
            <a:solidFill>
              <a:srgbClr val="23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879592"/>
            <a:ext cx="3154679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F2340"/>
                </a:solidFill>
                <a:latin typeface="Malgun Gothic"/>
              </a:defRPr>
            </a:pPr>
            <a:r>
              <a:t>Key result</a:t>
            </a:r>
          </a:p>
          <a:p>
            <a:pPr>
              <a:lnSpc>
                <a:spcPct val="108000"/>
              </a:lnSpc>
              <a:defRPr sz="950">
                <a:solidFill>
                  <a:srgbClr val="1E293B"/>
                </a:solidFill>
                <a:latin typeface="Malgun Gothic"/>
              </a:defRPr>
            </a:pPr>
            <a:r>
              <a:t>Chronos-2 MASE 0.387 / WAPE 0.0168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5742432"/>
            <a:ext cx="3474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5742432"/>
            <a:ext cx="73152" cy="64008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7" y="5879592"/>
            <a:ext cx="3154679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F2340"/>
                </a:solidFill>
                <a:latin typeface="Malgun Gothic"/>
              </a:defRPr>
            </a:pPr>
            <a:r>
              <a:t>Baseline</a:t>
            </a:r>
          </a:p>
          <a:p>
            <a:pPr>
              <a:lnSpc>
                <a:spcPct val="108000"/>
              </a:lnSpc>
              <a:defRPr sz="950">
                <a:solidFill>
                  <a:srgbClr val="1E293B"/>
                </a:solidFill>
                <a:latin typeface="Malgun Gothic"/>
              </a:defRPr>
            </a:pPr>
            <a:r>
              <a:t>Seasonal Naive MASE 0.445 / WAPE 0.0193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5742432"/>
            <a:ext cx="3108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5742432"/>
            <a:ext cx="73152" cy="640080"/>
          </a:xfrm>
          <a:prstGeom prst="rect">
            <a:avLst/>
          </a:prstGeom>
          <a:solidFill>
            <a:srgbClr val="F2AC26"/>
          </a:solidFill>
          <a:ln>
            <a:solidFill>
              <a:srgbClr val="F2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5879592"/>
            <a:ext cx="2788920" cy="4571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F2340"/>
                </a:solidFill>
                <a:latin typeface="Malgun Gothic"/>
              </a:defRPr>
            </a:pPr>
            <a:r>
              <a:t>Improvement</a:t>
            </a:r>
          </a:p>
          <a:p>
            <a:pPr>
              <a:lnSpc>
                <a:spcPct val="108000"/>
              </a:lnSpc>
              <a:defRPr sz="950">
                <a:solidFill>
                  <a:srgbClr val="1E293B"/>
                </a:solidFill>
                <a:latin typeface="Malgun Gothic"/>
              </a:defRPr>
            </a:pPr>
            <a:r>
              <a:t>약 13% error reduction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340"/>
          </a:solidFill>
          <a:ln>
            <a:solidFill>
              <a:srgbClr val="0F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AI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340"/>
                </a:solidFill>
                <a:latin typeface="Malgun Gothic"/>
              </a:defRPr>
            </a:pPr>
            <a:r>
              <a:t>4. Backtest: 예측 흐름과 월별 오차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Malgun Gothic"/>
              </a:defRPr>
            </a:pPr>
            <a:r>
              <a:t>Chronos-2는 강한 baseline을 개선하면서 예측구간까지 제공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09960" cy="10972"/>
          </a:xfrm>
          <a:prstGeom prst="rect">
            <a:avLst/>
          </a:prstGeom>
          <a:solidFill>
            <a:srgbClr val="D7DDE6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601968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4"/>
                </a:solidFill>
                <a:latin typeface="Aptos"/>
              </a:defRPr>
            </a:pPr>
            <a:r>
              <a:t>OB Cass Demand Forecasting | POM Term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0196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C6774"/>
                </a:solidFill>
              </a:defRPr>
            </a:pPr>
            <a:r>
              <a:t>5/6</a:t>
            </a:r>
          </a:p>
        </p:txBody>
      </p:sp>
      <p:pic>
        <p:nvPicPr>
          <p:cNvPr id="9" name="Picture 8" descr="02_backtest_actual_vs_chronos2_sea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27632"/>
            <a:ext cx="6903720" cy="285015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285232"/>
            <a:ext cx="64465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285232"/>
            <a:ext cx="73152" cy="59436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5422392"/>
            <a:ext cx="6126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0F2340"/>
                </a:solidFill>
                <a:latin typeface="Malgun Gothic"/>
              </a:defRPr>
            </a:pPr>
            <a:r>
              <a:t>Error view</a:t>
            </a:r>
          </a:p>
          <a:p>
            <a:pPr>
              <a:lnSpc>
                <a:spcPct val="108000"/>
              </a:lnSpc>
              <a:defRPr sz="1000">
                <a:solidFill>
                  <a:srgbClr val="1E293B"/>
                </a:solidFill>
                <a:latin typeface="Malgun Gothic"/>
              </a:defRPr>
            </a:pPr>
            <a:r>
              <a:t>월별 절대오차 비교 그래프는 package figures/05에 포함 — 발표 본문에서는 예측 흐름 중심으로 제시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664208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1664208"/>
            <a:ext cx="73152" cy="1143000"/>
          </a:xfrm>
          <a:prstGeom prst="rect">
            <a:avLst/>
          </a:prstGeom>
          <a:solidFill>
            <a:srgbClr val="23915F"/>
          </a:solidFill>
          <a:ln>
            <a:solidFill>
              <a:srgbClr val="23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1801368"/>
            <a:ext cx="33375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Interpretation</a:t>
            </a:r>
          </a:p>
          <a:p>
            <a:pPr>
              <a:lnSpc>
                <a:spcPct val="108000"/>
              </a:lnSpc>
              <a:defRPr sz="1019">
                <a:solidFill>
                  <a:srgbClr val="1E293B"/>
                </a:solidFill>
                <a:latin typeface="Malgun Gothic"/>
              </a:defRPr>
            </a:pPr>
            <a:r>
              <a:t>Seasonal Naive도 강한 기준선이지만</a:t>
            </a:r>
          </a:p>
          <a:p>
            <a:pPr>
              <a:lnSpc>
                <a:spcPct val="108000"/>
              </a:lnSpc>
              <a:defRPr sz="1019">
                <a:solidFill>
                  <a:srgbClr val="1E293B"/>
                </a:solidFill>
                <a:latin typeface="Malgun Gothic"/>
              </a:defRPr>
            </a:pPr>
            <a:r>
              <a:t>Chronos-2가 전체 테스트에서</a:t>
            </a:r>
          </a:p>
          <a:p>
            <a:pPr>
              <a:lnSpc>
                <a:spcPct val="108000"/>
              </a:lnSpc>
              <a:defRPr sz="1019">
                <a:solidFill>
                  <a:srgbClr val="1E293B"/>
                </a:solidFill>
                <a:latin typeface="Malgun Gothic"/>
              </a:defRPr>
            </a:pPr>
            <a:r>
              <a:t>MASE/WAPE 모두 개선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999232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79" y="2999232"/>
            <a:ext cx="73152" cy="1143000"/>
          </a:xfrm>
          <a:prstGeom prst="rect">
            <a:avLst/>
          </a:prstGeom>
          <a:solidFill>
            <a:srgbClr val="F2AC26"/>
          </a:solidFill>
          <a:ln>
            <a:solidFill>
              <a:srgbClr val="F2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3136391"/>
            <a:ext cx="33375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Why interval matters</a:t>
            </a:r>
          </a:p>
          <a:p>
            <a:pPr>
              <a:lnSpc>
                <a:spcPct val="108000"/>
              </a:lnSpc>
              <a:defRPr sz="1019">
                <a:solidFill>
                  <a:srgbClr val="1E293B"/>
                </a:solidFill>
                <a:latin typeface="Malgun Gothic"/>
              </a:defRPr>
            </a:pPr>
            <a:r>
              <a:t>발효탱크 운영은 평균보다</a:t>
            </a:r>
          </a:p>
          <a:p>
            <a:pPr>
              <a:lnSpc>
                <a:spcPct val="108000"/>
              </a:lnSpc>
              <a:defRPr sz="1019">
                <a:solidFill>
                  <a:srgbClr val="1E293B"/>
                </a:solidFill>
                <a:latin typeface="Malgun Gothic"/>
              </a:defRPr>
            </a:pPr>
            <a:r>
              <a:t>상한 리스크가 중요</a:t>
            </a:r>
          </a:p>
          <a:p>
            <a:pPr>
              <a:lnSpc>
                <a:spcPct val="108000"/>
              </a:lnSpc>
              <a:defRPr sz="1019">
                <a:solidFill>
                  <a:srgbClr val="1E293B"/>
                </a:solidFill>
                <a:latin typeface="Malgun Gothic"/>
              </a:defRPr>
            </a:pPr>
            <a:r>
              <a:t>→ Q90 기반 안전계획 검토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4334256"/>
            <a:ext cx="3657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4334256"/>
            <a:ext cx="73152" cy="1143000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4471416"/>
            <a:ext cx="33375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F2340"/>
                </a:solidFill>
                <a:latin typeface="Malgun Gothic"/>
              </a:defRPr>
            </a:pPr>
            <a:r>
              <a:t>Google Trends</a:t>
            </a:r>
          </a:p>
          <a:p>
            <a:pPr>
              <a:lnSpc>
                <a:spcPct val="108000"/>
              </a:lnSpc>
              <a:defRPr sz="1019">
                <a:solidFill>
                  <a:srgbClr val="1E293B"/>
                </a:solidFill>
                <a:latin typeface="Malgun Gothic"/>
              </a:defRPr>
            </a:pPr>
            <a:r>
              <a:t>전달 검색량은 일부 ML에서 개선</a:t>
            </a:r>
          </a:p>
          <a:p>
            <a:pPr>
              <a:lnSpc>
                <a:spcPct val="108000"/>
              </a:lnSpc>
              <a:defRPr sz="1019">
                <a:solidFill>
                  <a:srgbClr val="1E293B"/>
                </a:solidFill>
                <a:latin typeface="Malgun Gothic"/>
              </a:defRPr>
            </a:pPr>
            <a:r>
              <a:t>하지만 핵심 모델은 Chronos-2</a:t>
            </a:r>
          </a:p>
          <a:p>
            <a:pPr>
              <a:lnSpc>
                <a:spcPct val="108000"/>
              </a:lnSpc>
              <a:defRPr sz="1019">
                <a:solidFill>
                  <a:srgbClr val="1E293B"/>
                </a:solidFill>
                <a:latin typeface="Malgun Gothic"/>
              </a:defRPr>
            </a:pPr>
            <a:r>
              <a:t>GT는 보조 demand-sensing 신호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F2340"/>
          </a:solidFill>
          <a:ln>
            <a:solidFill>
              <a:srgbClr val="0F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8686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</a:defRPr>
            </a:pPr>
            <a:r>
              <a:t>AI Demand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340"/>
                </a:solidFill>
                <a:latin typeface="Malgun Gothic"/>
              </a:defRPr>
            </a:pPr>
            <a:r>
              <a:t>5. 운영 적용: 예측을 발효탱크 계획으로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774"/>
                </a:solidFill>
                <a:latin typeface="Malgun Gothic"/>
              </a:defRPr>
            </a:pPr>
            <a:r>
              <a:t>AI forecast → baseline check → risk overlay → production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65392"/>
            <a:ext cx="11109960" cy="10972"/>
          </a:xfrm>
          <a:prstGeom prst="rect">
            <a:avLst/>
          </a:prstGeom>
          <a:solidFill>
            <a:srgbClr val="D7DDE6"/>
          </a:solidFill>
          <a:ln>
            <a:solidFill>
              <a:srgbClr val="D7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601968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C6774"/>
                </a:solidFill>
                <a:latin typeface="Aptos"/>
              </a:defRPr>
            </a:pPr>
            <a:r>
              <a:t>OB Cass Demand Forecasting | POM Term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601968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C6774"/>
                </a:solidFill>
              </a:defRPr>
            </a:pPr>
            <a:r>
              <a:t>6/6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08760"/>
            <a:ext cx="2240280" cy="96012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Chronos-2</a:t>
            </a:r>
            <a:br/>
            <a:r>
              <a:t>월별 예측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53512" y="1755648"/>
            <a:ext cx="530352" cy="41148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0440" y="1508760"/>
            <a:ext cx="2240280" cy="960120"/>
          </a:xfrm>
          <a:prstGeom prst="roundRect">
            <a:avLst/>
          </a:prstGeom>
          <a:solidFill>
            <a:srgbClr val="F2AC26"/>
          </a:solidFill>
          <a:ln>
            <a:solidFill>
              <a:srgbClr val="F2A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Seasonal Naive</a:t>
            </a:r>
            <a:br/>
            <a:r>
              <a:t>Sanity Check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88152" y="1755648"/>
            <a:ext cx="530352" cy="41148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508760"/>
            <a:ext cx="2240280" cy="960120"/>
          </a:xfrm>
          <a:prstGeom prst="roundRect">
            <a:avLst/>
          </a:prstGeom>
          <a:solidFill>
            <a:srgbClr val="D24141"/>
          </a:solidFill>
          <a:ln>
            <a:solidFill>
              <a:srgbClr val="D2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Q90 상한</a:t>
            </a:r>
            <a:br/>
            <a:r>
              <a:t>Risk Overlay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22792" y="1755648"/>
            <a:ext cx="530352" cy="411480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89720" y="1508760"/>
            <a:ext cx="2240280" cy="960120"/>
          </a:xfrm>
          <a:prstGeom prst="roundRect">
            <a:avLst/>
          </a:prstGeom>
          <a:solidFill>
            <a:srgbClr val="23915F"/>
          </a:solidFill>
          <a:ln>
            <a:solidFill>
              <a:srgbClr val="23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발효탱크·안전재고</a:t>
            </a:r>
            <a:br/>
            <a:r>
              <a:t>계획 검토</a:t>
            </a:r>
          </a:p>
        </p:txBody>
      </p:sp>
      <p:pic>
        <p:nvPicPr>
          <p:cNvPr id="16" name="Picture 15" descr="07_event_stress_months_on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80360"/>
            <a:ext cx="5440680" cy="2244436"/>
          </a:xfrm>
          <a:prstGeom prst="rect">
            <a:avLst/>
          </a:prstGeom>
        </p:spPr>
      </p:pic>
      <p:pic>
        <p:nvPicPr>
          <p:cNvPr id="17" name="Picture 16" descr="06_nonalc_zero_segment_prox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880360"/>
            <a:ext cx="5440680" cy="22444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